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先说明数据性质，再讲结论。本样例单位为万元、家、百分比，不混用。
来源：shared/commercialTemplates.ts，原创合成样例。
当前页标题：把增长问题拆到可执行的动作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来源是本模板内嵌的合成数据。真实使用时替换数据、期间和来源，不仅替换图表数值。
来源：shared/commercialTemplates.ts，原创合成样例。
当前页标题：先统一口径，再讨论表现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完成率 = 实际 / 目标。百分比差异用百分点，不写成增长 3%。
来源：shared/commercialTemplates.ts，原创合成样例。
当前页标题：收入完成 90%，新增客户完成 90%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本样例没有交易明细，不虚构瀑布归因。展示待核查问题，而不是编造驱动贡献。
来源：shared/commercialTemplates.ts，原创合成样例。
当前页标题：收入缺口需要拆解，不能直接归因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建议建立漏斗事件表；没有分母时不绘制看似精确的转化率。
来源：shared/commercialTemplates.ts，原创合成样例。
当前页标题：新客流程要同时看数量与质量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不把续约率自动解释为满意度、净收入留存率或毛利率。
来源：shared/commercialTemplates.ts，原创合成样例。
当前页标题：保持续约表现，同时验证成本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触发条件是建议规则，需由实际团队确认，不是已发生的事故。
来源：shared/commercialTemplates.ts，原创合成样例。
当前页标题：把风险写成触发条件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日期和负责人在真实项目启动时确认。本模板不声称任务已分配。
来源：shared/commercialTemplates.ts，原创合成样例。
当前页标题：下一季度聚焦三项行动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这是决策请求，不是批准记录；现场记录结论、负责人和下次复核日期。
来源：shared/commercialTemplates.ts，原创合成样例。
当前页标题：需要管理层确认的取舍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 PowerPoint/WPS 中打开后复核字体与可编辑对象。正式报告必须绑定真实来源。
来源：shared/commercialTemplates.ts，原创合成样例。
当前页标题：来源、公式与会后交付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8CDC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NORTH / QUARTERLY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9144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把增长问题拆到可执行的动作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8745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DC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从指标口径到决策请求的 10 页经营叙事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2697480"/>
            <a:ext cx="10789920" cy="18288"/>
          </a:xfrm>
          <a:prstGeom prst="rect">
            <a:avLst/>
          </a:prstGeom>
          <a:solidFill>
            <a:srgbClr val="5F7C76"/>
          </a:solidFill>
          <a:ln w="12700">
            <a:solidFill>
              <a:srgbClr val="5F7C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017520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0E8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结论：收入与新增客户未达标，续约指标高于目标。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3712464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0E8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本次决策：确认下一季度优先处理线索质量与实施产能。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4407408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0E8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全套数字为合成教学样例；不代表任何企业。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94360" y="55778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DC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OBSERVE / EXPLAIN / DECIDE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6355080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C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原创合成教学样例 · 口径/讲稿见备注 · 不代表真实业绩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0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DC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NORTH / QUARTERLY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9144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先统一口径，再讨论表现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8745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样例观察期：2026-07-01 至 2026-09-30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2697480"/>
            <a:ext cx="3410712" cy="2880360"/>
          </a:xfrm>
          <a:prstGeom prst="rect">
            <a:avLst/>
          </a:prstGeom>
          <a:solidFill>
            <a:srgbClr val="E1E9E5"/>
          </a:solidFill>
          <a:ln w="12700">
            <a:solidFill>
              <a:srgbClr val="E1E9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926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净收入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0690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净收入：期间确认收入，不含税，不等同于回款或签约额。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79392" y="2697480"/>
            <a:ext cx="3410712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2926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07992" y="3474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新增客户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07992" y="40690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新增客户：期间首次付费的组织，同一组织去重。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64424" y="2697480"/>
            <a:ext cx="3410712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93024" y="2926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193024" y="3474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续约率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193024" y="40690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续约率：完成续约的到期客户数 / 期间到期客户数。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4360" y="6355080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原创合成教学样例 · 口径/讲稿见备注 · 不代表真实业绩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0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NORTH / QUARTERLY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9144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收入完成 90%，新增客户完成 90%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8745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目标与实际必须使用同一时间范围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2606040"/>
            <a:ext cx="341071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7432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净收入 / 万元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108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606040" y="3337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目标 120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79392" y="2606040"/>
            <a:ext cx="341071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62272" y="27432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新增客户 / 家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62272" y="31089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36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91072" y="3337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目标 40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64424" y="2606040"/>
            <a:ext cx="341071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47304" y="27432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续约率 / 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47304" y="31089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88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976104" y="3337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目标 85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160520"/>
          <a:ext cx="10789920" cy="1325880"/>
        </p:xfrm>
        <a:graphic>
          <a:graphicData uri="http://schemas.openxmlformats.org/drawingml/2006/table">
            <a:tbl>
              <a:tblPr/>
              <a:tblGrid>
                <a:gridCol w="3749040"/>
                <a:gridCol w="2011680"/>
                <a:gridCol w="2011680"/>
                <a:gridCol w="30175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D42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指标 / 单位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D42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目标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D42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实际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D42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差异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D42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净收入 / 万元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D42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120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D42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108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D42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-12 万元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D42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新增客户 / 家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D42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D42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36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D42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-4 家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D42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续约率 / %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D42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85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D42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88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D42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 个百分点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94360" y="57607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合成数据 / 完成率 = 实际 ÷ 目标；不同单位不可相加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94360" y="6355080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原创合成教学样例 · 口径/讲稿见备注 · 不代表真实业绩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972800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NORTH / QUARTERLY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9144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收入缺口需要拆解，不能直接归因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8745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观察不等于原因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2697480"/>
            <a:ext cx="3410712" cy="2880360"/>
          </a:xfrm>
          <a:prstGeom prst="rect">
            <a:avLst/>
          </a:prstGeom>
          <a:solidFill>
            <a:srgbClr val="E1E9E5"/>
          </a:solidFill>
          <a:ln w="12700">
            <a:solidFill>
              <a:srgbClr val="E1E9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926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已知观察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0690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已知：总量未达标，但续约表现较好。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79392" y="2697480"/>
            <a:ext cx="3410712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2926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07992" y="3474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待补证据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07992" y="40690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未知：新客数量、客单价、确认时点分别贡献多少。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64424" y="2697480"/>
            <a:ext cx="3410712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93024" y="2926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193024" y="3474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核查行动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193024" y="40690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下一步：补客户分组与收入确认明细，避免从总量推断个体原因。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4360" y="6355080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原创合成教学样例 · 口径/讲稿见备注 · 不代表真实业绩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0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NORTH / QUARTERLY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9144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新客流程要同时看数量与质量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8745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把线索、试用、签约与交付连接起来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2834640"/>
            <a:ext cx="341071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 / 入口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入口：记录线索来源、行业与需求完整度。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977640" y="3383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279392" y="2834640"/>
            <a:ext cx="341071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 / 过程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07992" y="38404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过程：在每个阶段记录进入/退出时间与退出原因。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662672" y="3383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964424" y="2834640"/>
            <a:ext cx="341071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93024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 / 结果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193024" y="38404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结果：新增客户 36 家是已知样例值；阶段转化率尚未提供。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4360" y="56692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阶段数据未提供，不绘制虚构的漏斗比例。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6355080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原创合成教学样例 · 口径/讲稿见备注 · 不代表真实业绩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0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NORTH / QUARTERLY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9144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保持续约表现，同时验证成本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8745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较高续约率不能单独证明利润改善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2697480"/>
            <a:ext cx="3410712" cy="2880360"/>
          </a:xfrm>
          <a:prstGeom prst="rect">
            <a:avLst/>
          </a:prstGeom>
          <a:solidFill>
            <a:srgbClr val="E1E9E5"/>
          </a:solidFill>
          <a:ln w="12700">
            <a:solidFill>
              <a:srgbClr val="E1E9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926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观察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0690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观察：续约率高于目标 3 个百分点。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79392" y="2697480"/>
            <a:ext cx="3410712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2926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07992" y="3474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需补明细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07992" y="40690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需补：续约折扣、服务工时、客户规模分层。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64424" y="2697480"/>
            <a:ext cx="3410712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93024" y="2926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193024" y="3474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下一步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193024" y="40690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行动：回看续约客户的服务负载与反馈，识别可复制做法。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4360" y="6355080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原创合成教学样例 · 口径/讲稿见备注 · 不代表真实业绩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0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NORTH / QUARTERLY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9144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把风险写成触发条件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8745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 → 观察信号 → 处理动作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743200"/>
          <a:ext cx="10789920" cy="2468880"/>
        </p:xfrm>
        <a:graphic>
          <a:graphicData uri="http://schemas.openxmlformats.org/drawingml/2006/table">
            <a:tbl>
              <a:tblPr/>
              <a:tblGrid>
                <a:gridCol w="2286000"/>
                <a:gridCol w="850392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3D42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风险领域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55448" marR="155448" marT="155448" marB="155448">
                    <a:lnL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3D42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观察信号与处理动作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55448" marR="155448" marT="155448" marB="155448">
                    <a:lnL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3D42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线索质量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55448" marR="155448" marT="155448" marB="155448">
                    <a:lnL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3D42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连续两次评审出现需求缺失，先补资格审查。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55448" marR="155448" marT="155448" marB="155448">
                    <a:lnL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3D42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交付产能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55448" marR="155448" marT="155448" marB="155448">
                    <a:lnL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3D42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待排期任务超出可用工时，调整承诺并做容量评审。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55448" marR="155448" marT="155448" marB="155448">
                    <a:lnL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3D42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数据质量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55448" marR="155448" marT="155448" marB="155448">
                    <a:lnL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3D42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指标分母缺失或定义变化，停止跨期对比并标注。</a:t>
                      </a:r>
                      <a:endParaRPr lang="en-US" sz="16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55448" marR="155448" marT="155448" marB="155448">
                    <a:lnL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" y="55778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建议规则，需实际团队确认；不是已发生的事故。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6355080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原创合成教学样例 · 口径/讲稿见备注 · 不代表真实业绩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972800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NORTH / QUARTERLY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9144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下一季度聚焦三项行动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8745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负责人使用岗位，不虚构具体人员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2697480"/>
            <a:ext cx="10789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8529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2816352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销售负责人：建立线索资格标准与每周复盘记录。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3630168"/>
            <a:ext cx="10789920" cy="777240"/>
          </a:xfrm>
          <a:prstGeom prst="rect">
            <a:avLst/>
          </a:prstGeom>
          <a:solidFill>
            <a:srgbClr val="E1E9E5"/>
          </a:solidFill>
          <a:ln w="12700">
            <a:solidFill>
              <a:srgbClr val="E1E9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8561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374904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交付负责人：把在制项目、可用工时与承诺日期放在一张容量表。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4562856"/>
            <a:ext cx="10789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71830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63040" y="4681728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数据负责人：维护指标字典、来源与口径变更记录。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355080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原创合成教学样例 · 口径/讲稿见备注 · 不代表真实业绩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00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NORTH / QUARTERLY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9144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需要管理层确认的取舍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8745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批准什么、不批准什么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2697480"/>
            <a:ext cx="3657600" cy="2971800"/>
          </a:xfrm>
          <a:prstGeom prst="rect">
            <a:avLst/>
          </a:prstGeom>
          <a:solidFill>
            <a:srgbClr val="263D42"/>
          </a:solidFill>
          <a:ln w="12700">
            <a:solidFill>
              <a:srgbClr val="263D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0175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4F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DECISION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F4F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REQUEST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4846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D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本页是请求，不是批准记录。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63440" y="27432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确认优先级：先修线索质量与交付容量，再扩大获客投放。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3440" y="361188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确认边界：不基于缺失明细直接制定个人绩效结论。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3440" y="448056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确认复核点：补齐数据后重新评估预算与目标，不先承诺收益。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6355080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原创合成教学样例 · 口径/讲稿见备注 · 不代表真实业绩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0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09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NORTH / QUARTERLY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9144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来源、公式与会后交付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8745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让每个数字和行动可以回溯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2697480"/>
            <a:ext cx="10789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8529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2816352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来源：shared/commercialTemplates.ts 中的合成指标表。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3630168"/>
            <a:ext cx="10789920" cy="777240"/>
          </a:xfrm>
          <a:prstGeom prst="rect">
            <a:avLst/>
          </a:prstGeom>
          <a:solidFill>
            <a:srgbClr val="E1E9E5"/>
          </a:solidFill>
          <a:ln w="12700">
            <a:solidFill>
              <a:srgbClr val="E1E9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8561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374904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公式：完成率 = 实际 / 目标；续约差额 = 实际率 - 目标率。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4562856"/>
            <a:ext cx="10789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71830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63040" y="4681728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交付：演示文稿、讲稿、指标表与待补明细清单。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355080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原创合成教学样例 · 口径/讲稿见备注 · 不代表真实业绩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00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D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</dc:title>
  <dc:subject>原创合成经营样例；不是实际公司业绩</dc:subject>
  <dc:creator>DesignBuddy</dc:creator>
  <cp:lastModifiedBy>DesignBuddy</cp:lastModifiedBy>
  <cp:revision>1</cp:revision>
  <dcterms:created xsi:type="dcterms:W3CDTF">2026-10-19T22:59:18Z</dcterms:created>
  <dcterms:modified xsi:type="dcterms:W3CDTF">2026-10-19T22:59:18Z</dcterms:modified>
</cp:coreProperties>
</file>