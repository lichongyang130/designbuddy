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244C42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C26"/>
                    </a:solidFill>
                    <a:latin typeface="Noto Sans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44C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5452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通过</c:v>
                  </c:pt>
                  <c:pt idx="1">
                    <c:v>失败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4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2C26"/>
                  </a:solidFill>
                  <a:latin typeface="Noto Sans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85D"/>
                </a:solidFill>
                <a:latin typeface="Noto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DB"/>
              </a:solidFill>
              <a:prstDash val="solid"/>
              <a:round/>
            </a:ln>
          </c:spPr>
        </c:majorGridlines>
        <c:numFmt formatCode="0.####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85D"/>
                </a:solidFill>
                <a:latin typeface="Noto Sans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1E9"/>
        </a:solidFill>
        <a:ln w="12700" cap="flat">
          <a:solidFill>
            <a:srgbClr val="F4F1E9"/>
          </a:solidFill>
        </a:ln>
        <a:effectLst/>
      </c:spPr>
    </c:plotArea>
    <c:plotVisOnly val="1"/>
    <c:dispBlanksAs val="span"/>
  </c:chart>
  <c:spPr>
    <a:solidFill>
      <a:srgbClr val="F4F1E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领导，本次汇报只讨论一个决定：当前PPT引擎是否可以进入有边界的小范围试点。我的建议是有条件批准，而不是宣布商业就绪或全面推广。源码已经具备材料规划、原生PPTX编译、PDF及预览导出和质量报告链路；但真实商业材料、真实模型表现和目标Office编辑效果仍未完成验收。后面会把已证实的事实、选项分析及待确认事项分开呈现。今天不请求未经测算的预算，也不承诺没有证据的上线日期。
来源位置：source-1-p-1；source-1-p-2；source-1-p-3
助手基于源码证据编排；未调用后台外部模型，仍需人工事实与Office验收。
仓库依据（快照）：
E01 docs/examples/leader-decision/brief.md:L1–L8
E02 server/skills/presentation/pipeline.ts:L63–L73；shared/presentation.ts:L1–L8
E03 server/skills/presentation/quality.ts:L41–L64；docs/commercial-ppt-engine.md:L135–L144
素材 asset-concept：AI生成概念雕塑 · 非产品、非业务证据；来源：本次会话通过Arena图像工具实际生成；不是应用自动生图；使用声明：本项目概念展示；AI生成不等于独立版权核验；SHA256：f0879c23520b916d32fbd4e10d3cab3af212c7c2e91695b082f4d8c5bca52046；用途：decorative；未自动OCR/语义核验。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来源：source-1-p-1；source-1-p-2；source-1-p-3
版式：visual-cover；引擎：adaptive-2.0.0；性质：建议；待人工复核。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要领导确认的是试点授权的边界，而不是替每一份PPT作事实担保。建议仅选有明确使用目的、可访问且有授权的材料；先产生可复核草稿，再由指定人员核对事实、口径和编辑效果。任何关键质量问题、授权不清或成本无法控制，都应暂停试跑。业务复核人、技术负责人、资源上限和停止条件目前没有提供，必须在启动前确认。源码中的执行成功状态不能自动转化为商业发布批准。本页全部是建议条件，不是已经生效的管理制度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素材 asset-concept：AI生成概念雕塑 · 非产品、非业务证据；来源：本次会话通过Arena图像工具实际生成；不是应用自动生图；使用声明：本项目概念展示；AI生成不等于独立版权核验；SHA256：f0879c23520b916d32fbd4e10d3cab3af212c7c2e91695b082f4d8c5bca52046；用途：decorative；未自动OCR/语义核验。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来源：source-1-p-1；source-1-p-3；source-1-p-8
版式：visual-story；引擎：adaptive-2.0.0；性质：建议；待人工复核。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引用的是上一轮已保存的测试记录，不是今天重新跑出来的覆盖率。技能后端回归有240项通过，相关界面回归有25项通过；另外扩展API检查仍有4项失败。这三项采用不同测试范围，不能相加计算一个所谓全仓通过率，也不能用界面通过数推导客户满意度或商业视觉水平。后端测试覆盖原生对象、来源绑定、导出、恢复和隔离等工程链路；仍需用真实业务材料和目标Office完成验收。测试记录中的0跳过也只属于该批测试，不代表所有可能环境均已覆盖。
来源位置：source-2-table-1；source-1-p-3；source-1-p-4
助手基于源码证据编排；未调用后台外部模型，仍需人工事实与Office验收。
仓库依据（快照）：
D01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来源：source-2-table-1；source-1-p-3；source-1-p-4
版式：kpi-insight；引擎：adaptive-2.0.0；性质：事实；待人工复核。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可以接收明确需求和多份材料，在单次授权后进行逐页规划，再由代码生成可编辑文字、形状、图表、表格和讲稿；本机LibreOffice提供PDF和逐页预览，质量报告保留来源和告警。边界同样重要：当前没有独立语义事实核查，没有自动商业视觉批准，也没有任意旧PPT无损编辑或会话局部修订。PPTX不内嵌字体，接收方需要相应字体并复核重排。判断是否试点，应建立在这些真实能力与限制上，而不是把规范导出误称为咨询公司定制成稿。
来源位置：source-1-p-2；source-1-p-3；source-1-p-6
助手基于源码证据编排；未调用后台外部模型，仍需人工事实与Office验收。
仓库依据（快照）：
E02 server/skills/presentation/pipeline.ts:L63–L73；shared/presentation.ts:L1–L8
E03 server/skills/presentation/quality.ts:L41–L64；docs/commercial-ppt-engine.md:L135–L144
E06 docs/commercial-ppt-engine.md:L81–L93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来源：source-1-p-2；source-1-p-3；source-1-p-6
版式：capability-boundary；引擎：adaptive-2.0.0；性质：事实；待人工复核。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只展示同一批23项扩展API检查的结果：19项通过、4项失败。隔离的HEAD源码树复现了相同失败，因此没有证据把它们归因于本次PPT变更；但既存不等于可以忽略。失败涉及未配置通道时的错误、模型目录配置状态、未配置额度接口和匿名HTTP接口鉴权期望。下一步需要逐项确认它们是否影响拟选的试点路径，以及应当修复、限制范围还是设置启动阻断。这里不推断生产事故已经发生，也不把“基线同样失败”当成自动放行理由。
来源位置：source-3-table-1；source-1-p-4
助手基于源码证据编排；未调用后台外部模型，仍需人工事实与Office验收。
仓库依据（快照）：
D02 见随附来源与字段口径
E04 docs/commercial-ppt-engine.md:L94–L110；.cache/presentation-full-skills-serial.log:L1535–L1543；.cache/presentation-ui-final.log:L32–L32；.cache/presentation-api-regression.log:L222–L230；.cache/presentation-api-head-baseline.log:L223–L231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来源：source-3-table-1；source-1-p-4
版式：chart-takeaway；引擎：adaptive-2.0.0；性质：事实；待人工复核。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有三种实际可讨论的路径。维持现状，不新增试点投入，但无法获得真实材料的使用反馈；在明确边界下小范围试点，能够把模型表现、复核投入和目标Office兼容性转化为可记录证据，但必须承担受控的试跑与复核工作；继续完善后再试点，可以先处理部分缺口，但在真实反馈不足时可能扩大开发范围。表内是基于当前能力和缺口作出的定性分析，不是已经测得的成本收益或项目排期。建议选择受控试点，并以前述授权、责任和退出条件为前提。
来源位置：source-4-table-1；source-1-p-3；source-1-p-4
助手基于源码证据编排；未调用后台外部模型，仍需人工事实与Office验收。
仓库依据（快照）：
D03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来源：source-4-table-1；source-1-p-3；source-1-p-4
版式：decision-matrix；引擎：adaptive-2.0.0；性质：分析；待人工复核。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试点，不是因为全部问题已经解决，而是已有链路足以承载受控验证。试点应该回答四个尚未有答案的问题：真实材料能否形成领导可用的决策主线；模型会不会误解事实、遗漏矛盾或给出无依据结论；业务人员需要投入多少复核时间；接收方在目标Office打开后，图表、表格和字体是否保持可编辑、可读。建议把这些问题作为每次试跑的记录项。若只是重复导出既有合成样本，或只看截图漂亮而不核对原文，就不能证明试点取得了有效结果。
来源位置：source-1-p-1；source-1-p-3；source-1-p-6；source-1-p-8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来源：source-1-p-1；source-1-p-3；source-1-p-6；source-1-p-8
版式：executive-summary；引擎：adaptive-2.0.0；性质：建议；待人工复核。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没有服务商账单、人工工时或部署报价，因此不能给出可信的预算和节省比例。表中列出必须记录的成本项及对应口径。模型成本以服务商实际用量和计价为准，不能用未报告的token估算；人工成本需要记录逐页复核和返工时间；部署运行资源要区分配置的最大执行时限与实际耗时，不能把时限当成平均性能；材料合规则需要确认提供商留存政策和允许的资料范围。建议由领导指定资源上限的审批责任，再由试点结果形成测算。金额、单价、工时和总额目前均待确认。
来源位置：source-4-table-2；source-1-p-5；source-1-p-7；source-1-p-8
助手基于源码证据编排；未调用后台外部模型，仍需人工事实与Office验收。
仓库依据（快照）：
D04 见随附来源与字段口径
E05 server/skills/presentation/pipeline.ts:L34–L62；server/skills/presentation/usage.ts:L1–L10；docs/commercial-ppt-engine.md:L77–L80
E07 docs/commercial-ppt-engine.md:L75–L76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来源：source-4-table-2；source-1-p-5；source-1-p-7；source-1-p-8
版式：adaptive-table；引擎：adaptive-2.0.0；性质：分析；待人工复核。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管理应当说明何时触发、如何处置，而不是随意给出高低概率。事实误读的触发信号是引用存在但结论不被原文支持；应停止发布并由业务人员逐项核对。字体或编辑异常需要在选定Office中复现，先确认字体与原生对象，不用缩字掩盖问题。中断发生在规划保存前，不能假定可以继续；需要重新授权新建，避免未知外部请求静默重放。对既存API失败则先评估影响，再决定修复或收窄试点范围。以上是建议的处置方案，不代表风险已经发生或全部关闭。
来源位置：source-4-table-3；source-1-p-3；source-1-p-4；source-1-p-5；source-1-p-6
助手基于源码证据编排；未调用后台外部模型，仍需人工事实与Office验收。
仓库依据（快照）：
D05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E05 server/skills/presentation/pipeline.ts:L34–L62；server/skills/presentation/usage.ts:L1–L10；docs/commercial-ppt-engine.md:L77–L80
E06 docs/commercial-ppt-engine.md:L81–L93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来源：source-4-table-3；source-1-p-3；source-1-p-4；source-1-p-5；source-1-p-6
版式：risk-response；引擎：adaptive-2.0.0；性质：分析；待人工复核。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按关卡推进，而不是现在给出没有排期依据的日历承诺。首先确认材料授权、使用对象、责任人与资源边界；其次用已确认的材料和模型通道真实试跑，并保留用量、来源、导出和告警；随后由业务人员逐页复核，并在选定Office重开检查；最后根据问题和实际投入决定停止、补齐后继续，还是扩大范围。任何前置关卡未满足都不应跳过。这里的四步是建议的执行顺序，具体负责人、开始日期、持续时间和样本数量均需确认后另行排期。
来源位置：source-1-p-1；source-1-p-3；source-1-p-5；source-1-p-8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E05 server/skills/presentation/pipeline.ts:L34–L62；server/skills/presentation/usage.ts:L1–L10；docs/commercial-ppt-engine.md:L77–L80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来源：source-1-p-1；source-1-p-3；source-1-p-5；source-1-p-8
版式：stage-gates；引擎：adaptive-2.0.0；性质：建议；待人工复核。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把是否扩围与可验证门槛挂钩。首先，每一项关键结论和数值都能够回到材料位置，未确认项不得写成既定事实；其次，PDF和所有页图可核对，缺字、越界、重叠或其他阻止发布的问题没有被忽略；再次，接收方在选定Office中验证原生文字、图表和表格，而不是只打开了位图截图；最后，已知API问题和实际投入经过责任人评审，材料授权与留存边界持续有效。当前质量报告没有商业批准入口，技术状态不能替代人工签核。扩围仍需新的决策，不因本次试点授权自动发生。
来源位置：source-1-p-1；source-1-p-3；source-1-p-6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素材 asset-screenshot：历史V2第04页完整截图，仅示范原生稿与栅格的区别；来源：冻结的leader-decision/adaptive/slides/04.jpg；由历史PPTX真实渲染；使用声明：本项目内置历史案例；完整显示；不扩张为当前代码审计；SHA256：d759dda7db19207f4d3cfc1e81bdb53ae3863e75391c3581ca3943781693c2a3；用途：evidence；未自动OCR/语义核验。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来源：source-1-p-1；source-1-p-3；source-1-p-6
版式：screenshot-evidence；引擎：adaptive-2.0.0；性质：建议；待人工复核。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请领导确认：是否有条件批准受控试点；由谁负责业务复核和技术执行；允许使用哪些资料和模型通道；资源上限及停止条件如何确定。我的推荐是批准有边界的试点，但在这些条件未明确前不启动，不把试点授权解释为全面上线或商业验收通过。若暂时无法确认，也可以选择完善后再议，继续补齐所需证据。汇报中的预算、人员、日期和收益没有编造，尚待确认的内容将保留在交付清单中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素材 asset-mark：DB / CONCEPT · 脚本绘制的示例标识，非第三方Logo；来源：本脚本本地Canvas绘制；非外部品牌素材；使用声明：本项目示例演示；不宣称第三方品牌授权；SHA256：f8aa5a92b7bc51e54ad315a003d20fb3fc1886da15405abb84b982d8cdd5cea2；用途：decorative；未自动OCR/语义核验。
来源：source-1-p-1；source-1-p-3；source-1-p-8
版式：action-agenda；引擎：adaptive-2.0.0；性质：建议；待人工复核。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Noto Sans SC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6400800" cy="20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CONSULTING / DECISION BRIEF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6446520" cy="64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建议有条件批准小范围试点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4114800"/>
            <a:ext cx="6126480" cy="28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【建议】领导决策汇报 · 15分钟建议讲述 · 待拍板，非已批准</a:t>
            </a:r>
            <a:endParaRPr lang="en-US" sz="1600" dirty="0"/>
          </a:p>
        </p:txBody>
      </p:sp>
      <p:pic>
        <p:nvPicPr>
          <p:cNvPr id="8" name="Image 0" descr="AI生成概念雕塑 · 非产品、非业务证据">    </p:cNvPr>
          <p:cNvPicPr>
            <a:picLocks noChangeAspect="1"/>
          </p:cNvPicPr>
          <p:nvPr/>
        </p:nvPicPr>
        <p:blipFill>
          <a:blip r:embed="rId1"/>
          <a:srcRect l="24029" r="24029" t="0" b="0"/>
          <a:stretch/>
        </p:blipFill>
        <p:spPr>
          <a:xfrm>
            <a:off x="7424928" y="1325880"/>
            <a:ext cx="4169664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6053328"/>
            <a:ext cx="1088136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概念配图 · 非业务事实证据</a:t>
            </a:r>
            <a:endParaRPr lang="en-US" sz="1000" dirty="0"/>
          </a:p>
        </p:txBody>
      </p:sp>
      <p:pic>
        <p:nvPicPr>
          <p:cNvPr id="10" name="Image 1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本次请求：批准试点边界，不背书全面推广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46148"/>
            <a:ext cx="6080760" cy="28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建议授权，不代表试点已启动或领导已批准。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75408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66848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仅使用有授权、可追溯的材料，先产出草稿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143504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234944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指定业务复核人与技术负责人；人选待确认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911600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03040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关键问题、授权或成本不清时暂停，不直接发布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679696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771136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范围、资源上限及退出条件批准后才启动</a:t>
            </a:r>
            <a:endParaRPr lang="en-US" sz="1800" dirty="0"/>
          </a:p>
        </p:txBody>
      </p:sp>
      <p:pic>
        <p:nvPicPr>
          <p:cNvPr id="16" name="Image 0" descr="AI生成概念雕塑 · 非产品、非业务证据">    </p:cNvPr>
          <p:cNvPicPr>
            <a:picLocks noChangeAspect="1"/>
          </p:cNvPicPr>
          <p:nvPr/>
        </p:nvPicPr>
        <p:blipFill>
          <a:blip r:embed="rId1"/>
          <a:srcRect l="16709" r="16709" t="0" b="0"/>
          <a:stretch/>
        </p:blipFill>
        <p:spPr>
          <a:xfrm>
            <a:off x="6976872" y="1946148"/>
            <a:ext cx="4617720" cy="38709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76872" y="5935980"/>
            <a:ext cx="461772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AI生成概念雕塑 · 非产品、非业务证据</a:t>
            </a:r>
            <a:endParaRPr lang="en-US" sz="1200" dirty="0"/>
          </a:p>
        </p:txBody>
      </p:sp>
      <p:pic>
        <p:nvPicPr>
          <p:cNvPr id="18" name="Image 1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已有工程证据，但不是商业质量认证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技能用例通过数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上一轮技能后端回归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567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界面用例通过数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67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上一轮相关界面回归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1960" y="1946148"/>
            <a:ext cx="3532632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0560" y="2311908"/>
            <a:ext cx="307543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290560" y="3454908"/>
            <a:ext cx="307543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扩展API失败项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90560" y="4597908"/>
            <a:ext cx="3075432" cy="23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HEAD对照同样复现</a:t>
            </a:r>
            <a:endParaRPr lang="en-US" sz="1300" dirty="0"/>
          </a:p>
        </p:txBody>
      </p:sp>
      <p:pic>
        <p:nvPicPr>
          <p:cNvPr id="19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可以交付可编辑草稿，不能承诺商业成稿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5385816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6148"/>
            <a:ext cx="5385816" cy="54864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20468"/>
            <a:ext cx="4928616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已实现的工程能力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875280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授权材料规划与来源引用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410204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原生文字、图表、表格及讲稿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945128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实际PDF与全页渲染证据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480052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规划恢复与独立质量报告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08776" y="1946148"/>
            <a:ext cx="5385816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946148"/>
            <a:ext cx="5385816" cy="54864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220468"/>
            <a:ext cx="4928616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不能据此承诺的效果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37376" y="2875280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独立事实核查与商业视觉批准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7376" y="3410204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真实商业材料与真实模型已验收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37376" y="3945128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任意旧PPT无损编辑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7376" y="4480052"/>
            <a:ext cx="49286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会话修订、版本对比与目标Office认证</a:t>
            </a:r>
            <a:endParaRPr lang="en-US" sz="1800" dirty="0"/>
          </a:p>
        </p:txBody>
      </p:sp>
      <p:pic>
        <p:nvPicPr>
          <p:cNvPr id="21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事实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扩展API仍有失败，需先判断试点影响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【事实】同一批扩展API检查；HEAD对照复现，不等于自动放行。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1946148"/>
          <a:ext cx="7315200" cy="43174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110728" y="1946148"/>
            <a:ext cx="3483864" cy="4317492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0" y="2202180"/>
            <a:ext cx="304495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阅读提示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21040" y="2787396"/>
            <a:ext cx="3044952" cy="7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扩展API仍有失败，需先判断试点影响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321040" y="5120640"/>
            <a:ext cx="304495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数值来自绑定单元格。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单位、范围及未确认项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请结合来源与讲稿核对。</a:t>
            </a:r>
            <a:endParaRPr lang="en-US" sz="1200" dirty="0"/>
          </a:p>
        </p:txBody>
      </p:sp>
      <p:pic>
        <p:nvPicPr>
          <p:cNvPr id="12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三种可选路径：建议选择受控试点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【分析】定性分析与建议，不是已测算成本收益。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330087"/>
                <a:gridCol w="2960043"/>
                <a:gridCol w="2960043"/>
                <a:gridCol w="2750058"/>
              </a:tblGrid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方案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可获得价值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主要代价或风险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建议判断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维持现状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不新增试跑投入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缺少真实使用反馈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不优先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受控小范围试点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获得真实复核证据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需授权与复核投入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有条件推荐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1079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完善后再试点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先补部分能力缺口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真实反馈仍然缺少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条件不足时采用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试点的价值：把未知变成可核对证据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11000232" cy="914400"/>
          </a:xfrm>
          <a:prstGeom prst="rect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1074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74164"/>
            <a:ext cx="10040112" cy="3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1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用真实授权材料检验决策主线，而非重复合成样本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299770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6230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2572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对照原文核查事实、矛盾、数值和待确认项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04926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1386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7728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记录实际模型调用与业务复核投入，不先承诺节省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510082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6542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22884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在选定Office重开检查文字、图表和表格的可编辑性</a:t>
            </a:r>
            <a:endParaRPr lang="en-US" sz="1800" dirty="0"/>
          </a:p>
        </p:txBody>
      </p:sp>
      <p:pic>
        <p:nvPicPr>
          <p:cNvPr id="19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成本尚未测算：先明确记录口径和上限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【分析】没有报价、账单或工时记录；不提供虚构金额与节省比例。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456078"/>
                <a:gridCol w="2691262"/>
                <a:gridCol w="2926446"/>
                <a:gridCol w="2926446"/>
              </a:tblGrid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成本项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当前证据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试点需记录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批准前确认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模型调用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有用量字段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账单与实际用量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单价及上限待定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人工复核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工时尚无记录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核对及返工工时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人员与工时待定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部署运行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仅有执行时限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耗时与资源消耗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资源上限待定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材料合规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需单次授权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授权与留存边界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资料范围待定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风险要有触发条件和应对动作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【分析】定性判断，非成本收益测算或已批准决定。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46148"/>
          <a:ext cx="11000232" cy="4317492"/>
        </p:xfrm>
        <a:graphic>
          <a:graphicData uri="http://schemas.openxmlformats.org/drawingml/2006/table">
            <a:tbl>
              <a:tblPr/>
              <a:tblGrid>
                <a:gridCol w="2606040"/>
                <a:gridCol w="3931920"/>
                <a:gridCol w="4462272"/>
              </a:tblGrid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触发信号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建议动作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事实误读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引用不支持结论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停止发布并核对原文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字体或编辑异常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目标Office重排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装字体并重开验证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规划前运行中断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尚无保存的规划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明确重新授权新建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既存API失败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影响试点路径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评审后修复或收窄</a:t>
                      </a:r>
                      <a:endParaRPr lang="en-US" sz="18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27000" marR="127000" marT="91440" marB="91440" anchor="ctr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按关卡推进，不承诺未经评估的日期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确认边界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授权、责任、资源明确后启动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90138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3018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73018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真实试跑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73018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保留用量、来源、导出和告警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85916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8796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68796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人工验收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68796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逐页核对并在目标Office重开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81694" y="1946148"/>
            <a:ext cx="2612898" cy="4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4574" y="2129028"/>
            <a:ext cx="2247138" cy="47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64574" y="2860548"/>
            <a:ext cx="2247138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复盘决策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64574" y="3482848"/>
            <a:ext cx="2247138" cy="57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依证据决定停止、补齐或扩围</a:t>
            </a:r>
            <a:endParaRPr lang="en-US" sz="1700" dirty="0"/>
          </a:p>
        </p:txBody>
      </p:sp>
      <p:pic>
        <p:nvPicPr>
          <p:cNvPr id="23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达标才扩围：导出成功不是唯一门槛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37588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关键结论和数值逐项回溯；未确认项不写成事实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2714244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805684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全页渲染可核对，不忽略阻止发布的质量问题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482340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573780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选定Office验证原生编辑，不仅核对截图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250436"/>
            <a:ext cx="6080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341876"/>
            <a:ext cx="57607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已知接口问题、实际投入和资料边界经责任人评审</a:t>
            </a:r>
            <a:endParaRPr lang="en-US" sz="1800" dirty="0"/>
          </a:p>
        </p:txBody>
      </p:sp>
      <p:pic>
        <p:nvPicPr>
          <p:cNvPr id="15" name="Image 0" descr="历史V2第04页完整截图，仅示范原生稿与栅格的区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2" y="2582894"/>
            <a:ext cx="4617720" cy="25974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76872" y="5935980"/>
            <a:ext cx="4617720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历史V2第04页完整截图，仅示范原生稿与栅格的区别</a:t>
            </a:r>
            <a:endParaRPr lang="en-US" sz="1200" dirty="0"/>
          </a:p>
        </p:txBody>
      </p:sp>
      <p:pic>
        <p:nvPicPr>
          <p:cNvPr id="17" name="Image 1" descr="DB / CONCEPT · 脚本绘制的示例标识，非第三方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97312" y="365760"/>
            <a:ext cx="1097280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92240"/>
            <a:ext cx="9144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601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来源、字段口径与讲稿见随附证据包 · 待人工复核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731520"/>
            <a:ext cx="1099108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请确认范围、责任、资源与退出条件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54512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94614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1074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7416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是否有条件批准小范围试点（建议：批准）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99770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6230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12572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业务复核人与技术负责人（待指定）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04926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1386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7728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资料范围、模型留存政策与资源上限（待确认）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5100828"/>
            <a:ext cx="110002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65420"/>
            <a:ext cx="457200" cy="2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228844"/>
            <a:ext cx="10040112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启动关卡和停止条件；未满足则暂不启动（待确认）</a:t>
            </a:r>
            <a:endParaRPr lang="en-US" sz="1800" dirty="0"/>
          </a:p>
        </p:txBody>
      </p:sp>
      <p:pic>
        <p:nvPicPr>
          <p:cNvPr id="19" name="Image 0" descr="DB / CONCEPT · 脚本绘制的示例标识，非第三方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069"/>
            <a:ext cx="1051560" cy="2485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172C26"/>
      </a:dk1>
      <a:lt1>
        <a:sysClr val="window" lastClr="F4F1E9"/>
      </a:lt1>
      <a:dk2>
        <a:srgbClr val="244C42"/>
      </a:dk2>
      <a:lt2>
        <a:srgbClr val="FFFFFF"/>
      </a:lt2>
      <a:accent1>
        <a:srgbClr val="244C42"/>
      </a:accent1>
      <a:accent2>
        <a:srgbClr val="A54525"/>
      </a:accent2>
      <a:accent3>
        <a:srgbClr val="52685D"/>
      </a:accent3>
      <a:accent4>
        <a:srgbClr val="244C42"/>
      </a:accent4>
      <a:accent5>
        <a:srgbClr val="A54525"/>
      </a:accent5>
      <a:accent6>
        <a:srgbClr val="52685D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Noto Sans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领导决策汇报｜PPT引擎试点建议</dc:title>
  <dc:subject>自适应商务V2 · 原生可编辑草稿</dc:subject>
  <dc:creator>DesignBuddy</dc:creator>
  <cp:lastModifiedBy>DesignBuddy</cp:lastModifiedBy>
  <cp:revision>1</cp:revision>
  <dcterms:created xsi:type="dcterms:W3CDTF">2026-10-19T04:08:37Z</dcterms:created>
  <dcterms:modified xsi:type="dcterms:W3CDTF">2026-10-19T04:08:37Z</dcterms:modified>
</cp:coreProperties>
</file>